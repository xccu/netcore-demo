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66" r:id="rId3"/>
    <p:sldId id="275" r:id="rId4"/>
    <p:sldId id="286" r:id="rId5"/>
    <p:sldId id="276" r:id="rId6"/>
    <p:sldId id="308" r:id="rId7"/>
    <p:sldId id="309" r:id="rId8"/>
    <p:sldId id="310" r:id="rId9"/>
    <p:sldId id="332" r:id="rId10"/>
    <p:sldId id="311" r:id="rId11"/>
    <p:sldId id="325" r:id="rId12"/>
    <p:sldId id="312" r:id="rId13"/>
    <p:sldId id="326" r:id="rId14"/>
    <p:sldId id="313" r:id="rId15"/>
    <p:sldId id="327" r:id="rId16"/>
    <p:sldId id="314" r:id="rId17"/>
    <p:sldId id="328" r:id="rId18"/>
    <p:sldId id="322" r:id="rId19"/>
    <p:sldId id="315" r:id="rId20"/>
    <p:sldId id="316" r:id="rId21"/>
    <p:sldId id="317" r:id="rId22"/>
    <p:sldId id="318" r:id="rId23"/>
    <p:sldId id="330" r:id="rId24"/>
    <p:sldId id="320" r:id="rId25"/>
    <p:sldId id="331" r:id="rId26"/>
    <p:sldId id="321" r:id="rId27"/>
    <p:sldId id="319" r:id="rId28"/>
    <p:sldId id="33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731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3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22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2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76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7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62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16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59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19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5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learn.microsoft.com/en-us/aspnet/core/release-notes/aspnetcore-8.0?view=aspnetcore-8.0#full-stack-web-ui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spnet/core/blazor/components/render-modes?view=aspnetcore-8.0#render-mode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learn.microsoft.com/en-us/aspnet/core/release-notes/aspnetcore-9.0?view=aspnetcore-9.0#net-maui-blazor-hybrid-and-web-app-solution-templat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1041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483025-24FB-9133-4EFB-4F23A25AE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9726" y="722903"/>
            <a:ext cx="5415521" cy="2706098"/>
          </a:xfrm>
        </p:spPr>
        <p:txBody>
          <a:bodyPr>
            <a:normAutofit/>
          </a:bodyPr>
          <a:lstStyle/>
          <a:p>
            <a:r>
              <a:rPr lang="en-SG" dirty="0"/>
              <a:t>Blazor </a:t>
            </a:r>
            <a:r>
              <a:rPr lang="en-SG" dirty="0" err="1"/>
              <a:t>Aand</a:t>
            </a:r>
            <a:r>
              <a:rPr lang="en-SG" dirty="0"/>
              <a:t> MAUI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94302-016E-F75D-BF72-572FB2FB1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/>
          </a:bodyPr>
          <a:lstStyle/>
          <a:p>
            <a:endParaRPr lang="en-SG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F7C968E-C5A7-64CE-D04B-D1F91CF3F9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0" r="26828"/>
          <a:stretch/>
        </p:blipFill>
        <p:spPr bwMode="auto"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0" name="Right Triangle 1069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97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D7C3C2D0-A48F-4A6F-9C7D-888E9DFE6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 useBgFill="1">
        <p:nvSpPr>
          <p:cNvPr id="58" name="Freeform: Shape 57">
            <a:extLst>
              <a:ext uri="{FF2B5EF4-FFF2-40B4-BE49-F238E27FC236}">
                <a16:creationId xmlns:a16="http://schemas.microsoft.com/office/drawing/2014/main" id="{A522AC37-2BE3-4ECF-A007-1DE6CB35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94387" y="266591"/>
            <a:ext cx="6857996" cy="6324809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CAC8F7F-D35D-4520-8F56-4EFA77C73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87C587A-B291-49B1-BE30-198570DDA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B6C1D58-93FC-4B49-9F8B-2262E08DA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0965ED9-2FC3-4180-9CAC-D7DF1C7BE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116CA23-FA2C-4A44-A67C-FC147A715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2C391CF-E782-40EA-B1EB-05ADC774C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B322665-68EB-45B5-A6DE-2869B30F1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3B7FA59-83C4-4952-AF38-C1FC950E9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E5D6D3A-DE20-486C-BBBF-F9B0E4D8A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B8B1D81-CEF1-437F-8252-036661CB5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1B0312A-9358-4743-961A-6F77AEB5D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C02485F-0EE1-4595-A972-16A13E919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102D844-6E4F-483E-8E2E-9006EA180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58766E6-D2D6-447C-B1DC-B7F7C381F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9BBD00C-7AB2-445E-B7DA-98CC7CAF3D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D177E1C-6580-456C-AAAE-89D422A2C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B85538F-9888-4E68-A9F3-DBB136C0F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29B624F-F9D8-43BB-A468-08331D66C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60E66F4-AE52-4D19-AF99-540F0CCFD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CADC852-407F-4870-9F7B-A6004FE77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E9CC738-B12D-4154-A4EA-81D4576BC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A2A84F5-CD6A-4287-A9C1-EED0E65CA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3F4EFD5-6D1E-4865-83BA-0F116DF06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0A8CE11-5C23-4CA3-8D8E-9E094566D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5D41DA6-2047-4BB5-8469-509E240E4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AACD460-E6E2-4C46-A780-095B52D1B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B36364A-122E-43B1-B2B8-F00D83E5D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9A63098-DBC2-4C59-9D33-809ECCA62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8F309E4-ACE9-4428-8DDA-20E0F1A1B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39F177F-07E3-45BF-85B1-21E231DCC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3EC3277-85FC-401E-80E3-B64B9808D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9A24ED6-70A5-4DC0-A213-5385E5841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884877-9750-052A-430D-E79503A7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3187" cy="5417452"/>
          </a:xfrm>
        </p:spPr>
        <p:txBody>
          <a:bodyPr anchor="ctr">
            <a:normAutofit/>
          </a:bodyPr>
          <a:lstStyle/>
          <a:p>
            <a:r>
              <a:rPr lang="en-US" dirty="0"/>
              <a:t>Agenda</a:t>
            </a:r>
            <a:endParaRPr lang="en-SG" dirty="0"/>
          </a:p>
        </p:txBody>
      </p:sp>
      <p:sp>
        <p:nvSpPr>
          <p:cNvPr id="93" name="Right Triangle 92">
            <a:extLst>
              <a:ext uri="{FF2B5EF4-FFF2-40B4-BE49-F238E27FC236}">
                <a16:creationId xmlns:a16="http://schemas.microsoft.com/office/drawing/2014/main" id="{69F0804E-F8DE-40E7-90F4-68B638136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8924" y="3137678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DCB7B-6C0B-FBF1-6BA4-7068F45D1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45" y="713048"/>
            <a:ext cx="4414176" cy="5449532"/>
          </a:xfrm>
        </p:spPr>
        <p:txBody>
          <a:bodyPr anchor="ctr"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zh-CN" sz="1600" dirty="0"/>
              <a:t>Blazor Web App</a:t>
            </a:r>
          </a:p>
          <a:p>
            <a:pPr marL="70740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zh-CN" sz="1400" dirty="0"/>
              <a:t>Introduction</a:t>
            </a:r>
          </a:p>
          <a:p>
            <a:pPr marL="70740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zh-CN" sz="1400" dirty="0"/>
              <a:t>Render Mode</a:t>
            </a:r>
          </a:p>
          <a:p>
            <a:pPr marL="70740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zh-CN" sz="1400" dirty="0" err="1"/>
              <a:t>PreRender</a:t>
            </a:r>
            <a:endParaRPr lang="en-SG" altLang="zh-CN" sz="1400" dirty="0"/>
          </a:p>
          <a:p>
            <a:pPr marL="457200" lvl="2" indent="0">
              <a:spcBef>
                <a:spcPts val="600"/>
              </a:spcBef>
              <a:buNone/>
            </a:pPr>
            <a:endParaRPr lang="en-US" altLang="zh-CN" sz="1600" dirty="0"/>
          </a:p>
          <a:p>
            <a:pPr>
              <a:spcBef>
                <a:spcPts val="600"/>
              </a:spcBef>
            </a:pPr>
            <a:r>
              <a:rPr lang="en-US" altLang="zh-CN" sz="1600" dirty="0" err="1"/>
              <a:t>.Net</a:t>
            </a:r>
            <a:r>
              <a:rPr lang="en-US" altLang="zh-CN" sz="1600" dirty="0"/>
              <a:t> MAUI Blazor hybrid and web app </a:t>
            </a:r>
          </a:p>
          <a:p>
            <a:pPr lvl="2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zh-CN" sz="1400" dirty="0"/>
              <a:t>Introduction</a:t>
            </a:r>
          </a:p>
          <a:p>
            <a:pPr lvl="2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zh-CN" sz="1400" dirty="0"/>
              <a:t>Thinking about </a:t>
            </a:r>
            <a:r>
              <a:rPr lang="en-US" altLang="zh-CN" sz="1400" dirty="0" err="1"/>
              <a:t>StarterkitOnWeb</a:t>
            </a:r>
            <a:endParaRPr lang="en-US" altLang="zh-CN" sz="1400" dirty="0"/>
          </a:p>
          <a:p>
            <a:pPr lvl="2">
              <a:spcBef>
                <a:spcPts val="600"/>
              </a:spcBef>
              <a:buFont typeface="Courier New" panose="02070309020205020404" pitchFamily="49" charset="0"/>
              <a:buChar char="o"/>
            </a:pPr>
            <a:endParaRPr lang="en-US" altLang="zh-CN" sz="1400" dirty="0"/>
          </a:p>
          <a:p>
            <a:pPr marL="70740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endParaRPr lang="en-SG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183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C617-ED7B-1040-B3EE-C0E27292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Blazor Web </a:t>
            </a:r>
            <a:r>
              <a:rPr lang="en-US" altLang="zh-CN" dirty="0"/>
              <a:t>App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BC4E1-7249-E9E9-8C4A-0D2289D51647}"/>
              </a:ext>
            </a:extLst>
          </p:cNvPr>
          <p:cNvSpPr txBox="1"/>
          <p:nvPr/>
        </p:nvSpPr>
        <p:spPr>
          <a:xfrm>
            <a:off x="691079" y="2354347"/>
            <a:ext cx="186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Introduction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79257D-74B9-76CA-B0B9-BEF5A29BF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793076"/>
            <a:ext cx="9367321" cy="166351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zh-CN" sz="1200" dirty="0"/>
              <a:t>Blazor Web is a full-stack </a:t>
            </a:r>
            <a:r>
              <a:rPr lang="en-SG" sz="11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web UI framework</a:t>
            </a:r>
            <a:r>
              <a:rPr lang="en-US" altLang="zh-CN" sz="1200" dirty="0"/>
              <a:t> </a:t>
            </a:r>
            <a:r>
              <a:rPr lang="en-SG" sz="1200" b="0" i="0" dirty="0">
                <a:solidFill>
                  <a:srgbClr val="161616"/>
                </a:solidFill>
                <a:effectLst/>
              </a:rPr>
              <a:t>that render content at either the component or page level with: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SG" sz="1200" b="0" i="0" dirty="0">
                <a:solidFill>
                  <a:srgbClr val="161616"/>
                </a:solidFill>
                <a:effectLst/>
              </a:rPr>
              <a:t>Static server rendering to generate static HTML.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SG" sz="1200" b="0" i="0" dirty="0">
                <a:solidFill>
                  <a:srgbClr val="161616"/>
                </a:solidFill>
                <a:effectLst/>
              </a:rPr>
              <a:t>Interactive Server rendering.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SG" sz="1200" b="0" i="0" dirty="0">
                <a:solidFill>
                  <a:srgbClr val="161616"/>
                </a:solidFill>
                <a:effectLst/>
              </a:rPr>
              <a:t>Interactive </a:t>
            </a:r>
            <a:r>
              <a:rPr lang="en-SG" sz="1200" b="0" i="0" dirty="0" err="1">
                <a:solidFill>
                  <a:srgbClr val="161616"/>
                </a:solidFill>
                <a:effectLst/>
              </a:rPr>
              <a:t>WebAssembly</a:t>
            </a:r>
            <a:r>
              <a:rPr lang="en-SG" sz="1200" b="0" i="0" dirty="0">
                <a:solidFill>
                  <a:srgbClr val="161616"/>
                </a:solidFill>
                <a:effectLst/>
              </a:rPr>
              <a:t> rendering.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SG" sz="1200" b="0" i="0" dirty="0">
                <a:solidFill>
                  <a:srgbClr val="161616"/>
                </a:solidFill>
                <a:effectLst/>
              </a:rPr>
              <a:t>Interactive Auto (automatic) rendering.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7ECA8-B94B-81AF-D2AE-BBA85EE8A770}"/>
              </a:ext>
            </a:extLst>
          </p:cNvPr>
          <p:cNvSpPr txBox="1"/>
          <p:nvPr/>
        </p:nvSpPr>
        <p:spPr>
          <a:xfrm>
            <a:off x="691077" y="6132049"/>
            <a:ext cx="91542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200" dirty="0">
                <a:hlinkClick r:id="rId2"/>
              </a:rPr>
              <a:t>https://learn.microsoft.com/en-us/aspnet/core/release-notes/aspnetcore-8.0?view=aspnetcore-8.0#full-stack-web-ui</a:t>
            </a:r>
            <a:endParaRPr lang="en-US" altLang="zh-CN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8B0DCC-A590-743C-3455-3DC92D50E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77" y="4582098"/>
            <a:ext cx="10956561" cy="120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6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99238-32C1-6DB0-A251-FFCCA2581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Blazor Web </a:t>
            </a:r>
            <a:r>
              <a:rPr lang="en-US" altLang="zh-CN" dirty="0"/>
              <a:t>App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1F7BC-953A-303A-D75B-53BEAFCE4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875011"/>
            <a:ext cx="6411058" cy="977898"/>
          </a:xfrm>
        </p:spPr>
        <p:txBody>
          <a:bodyPr>
            <a:normAutofit/>
          </a:bodyPr>
          <a:lstStyle/>
          <a:p>
            <a:r>
              <a:rPr lang="en-SG" sz="1200" dirty="0"/>
              <a:t>The components in the server is in the solution's project  </a:t>
            </a:r>
            <a:r>
              <a:rPr lang="en-SG" sz="1200" i="1" dirty="0"/>
              <a:t>Components/Pages </a:t>
            </a:r>
            <a:r>
              <a:rPr lang="en-SG" sz="1200" dirty="0"/>
              <a:t>folder. </a:t>
            </a:r>
          </a:p>
          <a:p>
            <a:r>
              <a:rPr lang="en-SG" sz="1200" dirty="0"/>
              <a:t>The components in the client is in the solution's project </a:t>
            </a:r>
            <a:r>
              <a:rPr lang="en-SG" sz="1200" i="1" dirty="0"/>
              <a:t>Pages</a:t>
            </a:r>
            <a:r>
              <a:rPr lang="en-SG" sz="1200" dirty="0"/>
              <a:t>  folder with a name that ends in </a:t>
            </a:r>
            <a:r>
              <a:rPr lang="en-SG" sz="1200" i="1" dirty="0"/>
              <a:t>.Client</a:t>
            </a:r>
            <a:r>
              <a:rPr lang="en-SG" sz="12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C09D38-A1D0-7435-AF83-84B93BA6C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210" y="1968973"/>
            <a:ext cx="2687118" cy="43067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9F1858-AE1C-46DC-A41B-56E9367FE64A}"/>
              </a:ext>
            </a:extLst>
          </p:cNvPr>
          <p:cNvSpPr txBox="1"/>
          <p:nvPr/>
        </p:nvSpPr>
        <p:spPr>
          <a:xfrm>
            <a:off x="691077" y="4122349"/>
            <a:ext cx="730238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the container.</a:t>
            </a:r>
          </a:p>
          <a:p>
            <a:r>
              <a:rPr lang="en-SG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support rendering Interactive Server  and </a:t>
            </a:r>
            <a:r>
              <a:rPr lang="en-SG" sz="1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WebAssembly</a:t>
            </a:r>
            <a:r>
              <a:rPr lang="en-SG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  components.</a:t>
            </a:r>
          </a:p>
          <a:p>
            <a:r>
              <a:rPr lang="en-SG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builder.Services.AddRazorComponents</a:t>
            </a:r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en-SG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AddInteractiveServerComponents</a:t>
            </a:r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	</a:t>
            </a:r>
          </a:p>
          <a:p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en-SG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AddInteractiveWebAssemblyComponents</a:t>
            </a:r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SG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SG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//......</a:t>
            </a:r>
          </a:p>
          <a:p>
            <a:endParaRPr lang="en-SG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SG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app.MapRazorComponents</a:t>
            </a:r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&lt;App&gt;()</a:t>
            </a:r>
          </a:p>
          <a:p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en-SG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AddInteractiveServerRenderMode</a:t>
            </a:r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en-SG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AddInteractiveWebAssemblyRenderMode</a:t>
            </a:r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en-SG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AddAdditionalAssemblies</a:t>
            </a:r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SG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typeof</a:t>
            </a:r>
            <a:r>
              <a:rPr lang="en-SG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(Counter).Assembly);</a:t>
            </a:r>
            <a:endParaRPr lang="en-SG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9A1D62-3A9E-DB82-5882-4B8528429BD3}"/>
              </a:ext>
            </a:extLst>
          </p:cNvPr>
          <p:cNvSpPr txBox="1"/>
          <p:nvPr/>
        </p:nvSpPr>
        <p:spPr>
          <a:xfrm>
            <a:off x="691079" y="2354347"/>
            <a:ext cx="186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978879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C617-ED7B-1040-B3EE-C0E27292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Blazor Web </a:t>
            </a:r>
            <a:r>
              <a:rPr lang="en-US" altLang="zh-CN" dirty="0"/>
              <a:t>App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BC4E1-7249-E9E9-8C4A-0D2289D51647}"/>
              </a:ext>
            </a:extLst>
          </p:cNvPr>
          <p:cNvSpPr txBox="1"/>
          <p:nvPr/>
        </p:nvSpPr>
        <p:spPr>
          <a:xfrm>
            <a:off x="691079" y="2354347"/>
            <a:ext cx="186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Render Mode</a:t>
            </a: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579B66CE-B281-1267-7507-DB7EDA7A34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1033677"/>
              </p:ext>
            </p:extLst>
          </p:nvPr>
        </p:nvGraphicFramePr>
        <p:xfrm>
          <a:off x="691079" y="2909612"/>
          <a:ext cx="982896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775">
                  <a:extLst>
                    <a:ext uri="{9D8B030D-6E8A-4147-A177-3AD203B41FA5}">
                      <a16:colId xmlns:a16="http://schemas.microsoft.com/office/drawing/2014/main" val="3959880116"/>
                    </a:ext>
                  </a:extLst>
                </a:gridCol>
                <a:gridCol w="3012775">
                  <a:extLst>
                    <a:ext uri="{9D8B030D-6E8A-4147-A177-3AD203B41FA5}">
                      <a16:colId xmlns:a16="http://schemas.microsoft.com/office/drawing/2014/main" val="130316117"/>
                    </a:ext>
                  </a:extLst>
                </a:gridCol>
                <a:gridCol w="2581275">
                  <a:extLst>
                    <a:ext uri="{9D8B030D-6E8A-4147-A177-3AD203B41FA5}">
                      <a16:colId xmlns:a16="http://schemas.microsoft.com/office/drawing/2014/main" val="1329112186"/>
                    </a:ext>
                  </a:extLst>
                </a:gridCol>
                <a:gridCol w="2085135">
                  <a:extLst>
                    <a:ext uri="{9D8B030D-6E8A-4147-A177-3AD203B41FA5}">
                      <a16:colId xmlns:a16="http://schemas.microsoft.com/office/drawing/2014/main" val="3866560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SG" dirty="0">
                          <a:effectLst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>
                          <a:effectLst/>
                        </a:rPr>
                        <a:t>Render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dirty="0">
                          <a:effectLst/>
                        </a:rPr>
                        <a:t>Interactive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996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 dirty="0">
                          <a:effectLst/>
                        </a:rPr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>
                          <a:effectLst/>
                        </a:rPr>
                        <a:t>Static server rendering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>
                          <a:effectLst/>
                        </a:rPr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 dirty="0">
                          <a:effectLst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51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 dirty="0">
                          <a:effectLst/>
                        </a:rPr>
                        <a:t>Interactive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 dirty="0">
                          <a:effectLst/>
                        </a:rPr>
                        <a:t>Interactive server rendering using Interactive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>
                          <a:effectLst/>
                        </a:rPr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 dirty="0">
                          <a:effectLst/>
                        </a:rPr>
                        <a:t>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859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>
                          <a:effectLst/>
                        </a:rPr>
                        <a:t>Interactive WebAssembly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 dirty="0">
                          <a:effectLst/>
                        </a:rPr>
                        <a:t>Interactive client rendering using Interactive </a:t>
                      </a:r>
                      <a:r>
                        <a:rPr lang="en-SG" sz="1200" dirty="0" err="1">
                          <a:effectLst/>
                        </a:rPr>
                        <a:t>WebAssembly</a:t>
                      </a:r>
                      <a:endParaRPr lang="en-SG" sz="12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 dirty="0">
                          <a:effectLst/>
                        </a:rP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 dirty="0">
                          <a:effectLst/>
                        </a:rPr>
                        <a:t>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1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 dirty="0">
                          <a:effectLst/>
                        </a:rPr>
                        <a:t>Interactive 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200" dirty="0">
                          <a:effectLst/>
                        </a:rPr>
                        <a:t>When </a:t>
                      </a:r>
                      <a:r>
                        <a:rPr lang="en-US" altLang="zh-CN" sz="1200" dirty="0" err="1">
                          <a:effectLst/>
                        </a:rPr>
                        <a:t>websockt</a:t>
                      </a:r>
                      <a:r>
                        <a:rPr lang="en-US" altLang="zh-CN" sz="1200" dirty="0">
                          <a:effectLst/>
                        </a:rPr>
                        <a:t> connected using </a:t>
                      </a:r>
                      <a:r>
                        <a:rPr lang="en-SG" sz="1200" dirty="0">
                          <a:effectLst/>
                        </a:rPr>
                        <a:t>Interactive</a:t>
                      </a:r>
                      <a:r>
                        <a:rPr lang="en-US" altLang="zh-CN" sz="1200" dirty="0">
                          <a:effectLst/>
                        </a:rPr>
                        <a:t> Server, otherwise </a:t>
                      </a:r>
                      <a:r>
                        <a:rPr lang="en-SG" sz="1200" dirty="0">
                          <a:effectLst/>
                        </a:rPr>
                        <a:t>Interactive</a:t>
                      </a:r>
                      <a:r>
                        <a:rPr lang="en-US" altLang="zh-CN" sz="1200" dirty="0">
                          <a:effectLst/>
                        </a:rPr>
                        <a:t> </a:t>
                      </a:r>
                      <a:r>
                        <a:rPr lang="en-US" altLang="zh-CN" sz="1200" dirty="0" err="1">
                          <a:effectLst/>
                        </a:rPr>
                        <a:t>WebAssembly</a:t>
                      </a:r>
                      <a:r>
                        <a:rPr lang="en-US" altLang="zh-CN" sz="1200" dirty="0">
                          <a:effectLst/>
                        </a:rPr>
                        <a:t> </a:t>
                      </a:r>
                      <a:endParaRPr lang="en-SG" sz="12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 dirty="0">
                          <a:effectLst/>
                        </a:rPr>
                        <a:t>Server/Client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1200" dirty="0">
                          <a:effectLst/>
                        </a:rPr>
                        <a:t>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5272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566D4A5-6B8C-347A-AFFB-890DD8B7456C}"/>
              </a:ext>
            </a:extLst>
          </p:cNvPr>
          <p:cNvSpPr txBox="1"/>
          <p:nvPr/>
        </p:nvSpPr>
        <p:spPr>
          <a:xfrm>
            <a:off x="691079" y="5468619"/>
            <a:ext cx="982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>
                <a:hlinkClick r:id="rId2"/>
              </a:rPr>
              <a:t>https://learn.microsoft.com/en-us/aspnet/core/blazor/components/render-modes?view=aspnetcore-8.0#render-modes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440740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4A947-9EB9-186B-C15F-FFAE307B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Blazor Web App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A7054EB-45F2-A567-6D15-29545B6F8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079" y="2370120"/>
            <a:ext cx="7340647" cy="356393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C7C068-F6CD-0F77-4A8A-62C02F72DCAE}"/>
              </a:ext>
            </a:extLst>
          </p:cNvPr>
          <p:cNvSpPr txBox="1">
            <a:spLocks/>
          </p:cNvSpPr>
          <p:nvPr/>
        </p:nvSpPr>
        <p:spPr>
          <a:xfrm>
            <a:off x="8440615" y="2603705"/>
            <a:ext cx="3175279" cy="97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App.razor</a:t>
            </a:r>
            <a:r>
              <a:rPr lang="en-US" altLang="zh-CN" sz="1200" dirty="0"/>
              <a:t> set root </a:t>
            </a:r>
            <a:r>
              <a:rPr lang="en-US" altLang="zh-CN" sz="1200" dirty="0" err="1"/>
              <a:t>compoment</a:t>
            </a:r>
            <a:r>
              <a:rPr lang="en-US" altLang="zh-CN" sz="1200" dirty="0"/>
              <a:t> as static render mode by </a:t>
            </a:r>
            <a:r>
              <a:rPr lang="en-US" altLang="zh-CN" sz="1200" dirty="0" err="1"/>
              <a:t>default,which</a:t>
            </a:r>
            <a:r>
              <a:rPr lang="en-US" altLang="zh-CN" sz="1200" dirty="0"/>
              <a:t> compatible all interactive </a:t>
            </a:r>
            <a:r>
              <a:rPr lang="en-US" altLang="zh-CN" sz="1200" dirty="0" err="1"/>
              <a:t>rendermode</a:t>
            </a:r>
            <a:r>
              <a:rPr lang="en-US" altLang="zh-CN" sz="1200" dirty="0"/>
              <a:t> in child </a:t>
            </a:r>
            <a:r>
              <a:rPr lang="en-US" altLang="zh-CN" sz="1200" dirty="0" err="1"/>
              <a:t>compoment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3888873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61E7-F94F-B643-A44D-3A429E2E3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Blazor Web App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D3414-8149-68CE-981A-5D4D88DDB23E}"/>
              </a:ext>
            </a:extLst>
          </p:cNvPr>
          <p:cNvSpPr txBox="1"/>
          <p:nvPr/>
        </p:nvSpPr>
        <p:spPr>
          <a:xfrm>
            <a:off x="691079" y="2354347"/>
            <a:ext cx="186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Prerender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2E181A-26ED-C330-D2E3-707C33949F5F}"/>
              </a:ext>
            </a:extLst>
          </p:cNvPr>
          <p:cNvSpPr txBox="1"/>
          <p:nvPr/>
        </p:nvSpPr>
        <p:spPr>
          <a:xfrm>
            <a:off x="691079" y="2846824"/>
            <a:ext cx="96455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/>
              <a:t>SSR(Server-Side Rendering) prerender a static html page at server side until </a:t>
            </a:r>
            <a:r>
              <a:rPr lang="en-US" altLang="zh-CN" sz="1200" dirty="0" err="1"/>
              <a:t>i</a:t>
            </a:r>
            <a:r>
              <a:rPr lang="en-SG" sz="1200" dirty="0" err="1"/>
              <a:t>nteractive</a:t>
            </a:r>
            <a:r>
              <a:rPr lang="en-SG" sz="1200" dirty="0"/>
              <a:t> established.</a:t>
            </a:r>
            <a:r>
              <a:rPr lang="en-US" altLang="zh-CN" sz="1200" dirty="0"/>
              <a:t>Can use </a:t>
            </a:r>
            <a:r>
              <a:rPr lang="en-US" sz="1200" b="1" dirty="0" err="1"/>
              <a:t>RendererInfo.Name</a:t>
            </a:r>
            <a:r>
              <a:rPr lang="en-US" sz="1200" b="1" dirty="0"/>
              <a:t> </a:t>
            </a:r>
            <a:r>
              <a:rPr lang="en-US" sz="1200" dirty="0"/>
              <a:t>and </a:t>
            </a:r>
            <a:r>
              <a:rPr lang="en-US" sz="1200" b="1" dirty="0" err="1"/>
              <a:t>RendererInfo.IsInteractive</a:t>
            </a:r>
            <a:r>
              <a:rPr lang="en-US" sz="1200" b="1" dirty="0"/>
              <a:t> </a:t>
            </a:r>
            <a:r>
              <a:rPr lang="en-US" altLang="zh-CN" sz="1200" dirty="0"/>
              <a:t>to shown current renderer and interactive status</a:t>
            </a:r>
            <a:endParaRPr lang="en-SG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49D1B9-6C34-62FC-37E4-D127C0512A0B}"/>
              </a:ext>
            </a:extLst>
          </p:cNvPr>
          <p:cNvSpPr txBox="1"/>
          <p:nvPr/>
        </p:nvSpPr>
        <p:spPr>
          <a:xfrm>
            <a:off x="691079" y="6008847"/>
            <a:ext cx="43474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prerender static html page</a:t>
            </a:r>
            <a:endParaRPr lang="en-SG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AA7728-EDE5-E0C5-4020-55102FAC2D0C}"/>
              </a:ext>
            </a:extLst>
          </p:cNvPr>
          <p:cNvSpPr txBox="1"/>
          <p:nvPr/>
        </p:nvSpPr>
        <p:spPr>
          <a:xfrm>
            <a:off x="5513874" y="6008846"/>
            <a:ext cx="43474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interactive established </a:t>
            </a:r>
            <a:endParaRPr lang="en-SG" sz="120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5D16640-F73F-04D9-8B4C-F3641D5A645C}"/>
              </a:ext>
            </a:extLst>
          </p:cNvPr>
          <p:cNvSpPr/>
          <p:nvPr/>
        </p:nvSpPr>
        <p:spPr>
          <a:xfrm>
            <a:off x="5271796" y="3848844"/>
            <a:ext cx="504466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506FAF0-7CD4-4540-1E5D-F35D745A3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79" y="3469053"/>
            <a:ext cx="4587189" cy="24830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52B88C-9742-CC16-EFB3-AF8F69B77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579" y="3469053"/>
            <a:ext cx="4587189" cy="25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13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87B72-7C7A-69DE-448C-450890A63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E7C48-8731-F5E7-208F-2E0C6BCB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Blazor Web App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518D8-9D2F-F6B3-4CC6-637222531043}"/>
              </a:ext>
            </a:extLst>
          </p:cNvPr>
          <p:cNvSpPr txBox="1"/>
          <p:nvPr/>
        </p:nvSpPr>
        <p:spPr>
          <a:xfrm>
            <a:off x="691079" y="2354347"/>
            <a:ext cx="186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Prerender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84967-11A3-DA7A-12FA-2885251B3D91}"/>
              </a:ext>
            </a:extLst>
          </p:cNvPr>
          <p:cNvSpPr txBox="1"/>
          <p:nvPr/>
        </p:nvSpPr>
        <p:spPr>
          <a:xfrm>
            <a:off x="691079" y="2846824"/>
            <a:ext cx="96455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Prerender can disable prerender as follow</a:t>
            </a:r>
            <a:r>
              <a:rPr lang="zh-CN" altLang="en-US" sz="1200" dirty="0"/>
              <a:t>：</a:t>
            </a:r>
            <a:endParaRPr lang="en-SG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FA088-6A8E-D5B5-B686-9794FE282667}"/>
              </a:ext>
            </a:extLst>
          </p:cNvPr>
          <p:cNvSpPr txBox="1"/>
          <p:nvPr/>
        </p:nvSpPr>
        <p:spPr>
          <a:xfrm>
            <a:off x="691079" y="3226346"/>
            <a:ext cx="111587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CustomerRenderMode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IComponentRenderMode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InteractiveServerWithoutPrerender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InteractiveServerRenderMode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prerender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IComponentRenderMode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InteractiveAutoWithoutPrerender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InteractiveAutoRenderMode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prerender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IComponentRenderMode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InteractiveWebAssemblyWithoutPrerender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InteractiveWebAssemblyRenderMode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prerender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956DCC-1C2D-83CD-666E-9FA843A1FF01}"/>
              </a:ext>
            </a:extLst>
          </p:cNvPr>
          <p:cNvSpPr txBox="1"/>
          <p:nvPr/>
        </p:nvSpPr>
        <p:spPr>
          <a:xfrm>
            <a:off x="691079" y="4561277"/>
            <a:ext cx="61162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@page 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"/render-mode-server-no-prerender"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@rendermode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CustomerRenderMode.InteractiveServerWithoutPrerender</a:t>
            </a:r>
            <a:endParaRPr lang="en-US" sz="10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……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4543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A06D1BC2-0A04-9904-1C35-1DC52DF70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78" y="110531"/>
            <a:ext cx="5694157" cy="4462441"/>
          </a:xfrm>
          <a:prstGeom prst="rect">
            <a:avLst/>
          </a:prstGeom>
        </p:spPr>
      </p:pic>
      <p:pic>
        <p:nvPicPr>
          <p:cNvPr id="9" name="Picture 8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B8F3B04B-DDD8-2E3B-C062-981CD58C8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211" y="2960070"/>
            <a:ext cx="5608611" cy="378237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32E455E-3BD9-AF40-3E96-8F445D37C7DB}"/>
              </a:ext>
            </a:extLst>
          </p:cNvPr>
          <p:cNvSpPr/>
          <p:nvPr/>
        </p:nvSpPr>
        <p:spPr>
          <a:xfrm>
            <a:off x="194178" y="447869"/>
            <a:ext cx="5094514" cy="1959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CB178A-E005-4045-80C0-B6B8C18A86B0}"/>
              </a:ext>
            </a:extLst>
          </p:cNvPr>
          <p:cNvSpPr/>
          <p:nvPr/>
        </p:nvSpPr>
        <p:spPr>
          <a:xfrm>
            <a:off x="624673" y="3468355"/>
            <a:ext cx="5094514" cy="110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BA3817-DEB4-6945-C550-BDB3D032FEE7}"/>
              </a:ext>
            </a:extLst>
          </p:cNvPr>
          <p:cNvSpPr/>
          <p:nvPr/>
        </p:nvSpPr>
        <p:spPr>
          <a:xfrm>
            <a:off x="6646259" y="5434004"/>
            <a:ext cx="5094514" cy="110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76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EFCA7-F495-803E-8D6B-3DCF8ABE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0272FDD-20B6-7214-EC82-2C7A53896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624" y="1605024"/>
            <a:ext cx="9438752" cy="458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08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7F79C-35D5-0CE1-8A77-A19EC888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828C6423-14C8-E4A5-67F0-5751FF3EF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14" y="773723"/>
            <a:ext cx="10535363" cy="515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931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7EB02-1B4A-A9D3-E7D3-67020C403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9865763-B859-25D2-BC45-92AC9C0F9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9242"/>
            <a:ext cx="12192000" cy="597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87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01B00EF-8E71-1E21-76D1-6C4A0109A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050" y="400499"/>
            <a:ext cx="12211356" cy="3612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911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DE9E-83B1-DEDF-0960-23978D69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9F7560-7DB5-94A4-3B42-972E606DF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78" y="0"/>
            <a:ext cx="119900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40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BA18BE2-5410-2FD8-0897-92A6BBE37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188" y="90434"/>
            <a:ext cx="13093204" cy="6089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988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3DFC-321C-7F18-5F9D-5C300CDA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790DDA-FB42-2BB9-3098-6D60EF6D7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865"/>
            <a:ext cx="12192000" cy="646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51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6377A1E1-669B-D224-3230-CBDEB348F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4873"/>
            <a:ext cx="12383006" cy="529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579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0E42-B57A-A3E3-4959-C37697D2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.NET MAUI architecture diagram.">
            <a:extLst>
              <a:ext uri="{FF2B5EF4-FFF2-40B4-BE49-F238E27FC236}">
                <a16:creationId xmlns:a16="http://schemas.microsoft.com/office/drawing/2014/main" id="{091E6866-C9DE-2181-B8CD-8A9CEBA38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50" y="2231289"/>
            <a:ext cx="6257467" cy="3812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B353D6-CD16-0024-C51D-2E22DE7215EC}"/>
              </a:ext>
            </a:extLst>
          </p:cNvPr>
          <p:cNvSpPr txBox="1"/>
          <p:nvPr/>
        </p:nvSpPr>
        <p:spPr>
          <a:xfrm>
            <a:off x="913650" y="6044083"/>
            <a:ext cx="9331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https://learn.microsoft.com/en-us/dotnet/maui/what-is-maui?view=net-maui-10.0</a:t>
            </a:r>
          </a:p>
        </p:txBody>
      </p:sp>
    </p:spTree>
    <p:extLst>
      <p:ext uri="{BB962C8B-B14F-4D97-AF65-F5344CB8AC3E}">
        <p14:creationId xmlns:p14="http://schemas.microsoft.com/office/powerpoint/2010/main" val="3011281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0D9C-B400-F06A-7525-D763C10D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9FAF1-34B9-F889-71DE-8EB006F64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 err="1"/>
              <a:t>.Net</a:t>
            </a:r>
            <a:r>
              <a:rPr lang="en-US" altLang="zh-CN" dirty="0"/>
              <a:t> MAUI Blazor hybrid and web app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8869E-B86A-4F6E-CCD3-BFFA84034916}"/>
              </a:ext>
            </a:extLst>
          </p:cNvPr>
          <p:cNvSpPr txBox="1"/>
          <p:nvPr/>
        </p:nvSpPr>
        <p:spPr>
          <a:xfrm>
            <a:off x="691079" y="2354347"/>
            <a:ext cx="186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Introduction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EB8BFE1-CC06-4021-2DFA-4AD3DC4DC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793076"/>
            <a:ext cx="9367321" cy="743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/>
              <a:t>This is a new solution template in ASP .NET 9 makes it easier to create .NET MAUI native and Blazor web client apps that share the same UI. </a:t>
            </a:r>
            <a:endParaRPr lang="en-SG" sz="1200" b="0" i="0" dirty="0">
              <a:solidFill>
                <a:srgbClr val="161616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55C2A-FD43-3FA3-9876-B5C450884267}"/>
              </a:ext>
            </a:extLst>
          </p:cNvPr>
          <p:cNvSpPr txBox="1"/>
          <p:nvPr/>
        </p:nvSpPr>
        <p:spPr>
          <a:xfrm>
            <a:off x="843226" y="5485718"/>
            <a:ext cx="9154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hlinkClick r:id="rId2"/>
              </a:rPr>
              <a:t>https://learn.microsoft.com/en-us/aspnet/core/release-notes/aspnetcore-9.0?view=aspnetcore-9.0#net-maui-blazor-hybrid-and-web-app-solution-template</a:t>
            </a:r>
            <a:endParaRPr lang="en-US" altLang="zh-C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8B2855-2804-B3C2-7362-584A8C89A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26" y="3536302"/>
            <a:ext cx="8849960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28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99A3E-FFE2-F5D4-4552-4E0A15D50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1859-BFEE-F249-772C-2163539E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.Net</a:t>
            </a:r>
            <a:r>
              <a:rPr lang="en-US" altLang="zh-CN" dirty="0"/>
              <a:t> MAUI Blazor hybrid </a:t>
            </a:r>
            <a:br>
              <a:rPr lang="en-US" altLang="zh-CN" dirty="0"/>
            </a:br>
            <a:r>
              <a:rPr lang="en-US" altLang="zh-CN" dirty="0"/>
              <a:t>and web app 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C8213A-CCFA-2A1F-B868-73F33D47E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45" y="0"/>
            <a:ext cx="3075955" cy="6858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ADF708F-5C49-6FDC-15C3-29CCDBBD8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7" y="2875010"/>
            <a:ext cx="7435885" cy="1442463"/>
          </a:xfrm>
        </p:spPr>
        <p:txBody>
          <a:bodyPr>
            <a:normAutofit/>
          </a:bodyPr>
          <a:lstStyle/>
          <a:p>
            <a:r>
              <a:rPr lang="en-SG" sz="1200" dirty="0"/>
              <a:t>Can start .NET MAUI app at {</a:t>
            </a:r>
            <a:r>
              <a:rPr lang="en-SG" sz="1200" dirty="0" err="1"/>
              <a:t>ProjectName</a:t>
            </a:r>
            <a:r>
              <a:rPr lang="en-SG" sz="1200" dirty="0"/>
              <a:t>} or Blazor web app at {</a:t>
            </a:r>
            <a:r>
              <a:rPr lang="en-SG" sz="1200" dirty="0" err="1"/>
              <a:t>ProjectName</a:t>
            </a:r>
            <a:r>
              <a:rPr lang="en-SG" sz="1200" dirty="0"/>
              <a:t>}.Web</a:t>
            </a:r>
          </a:p>
          <a:p>
            <a:r>
              <a:rPr lang="en-SG" sz="1200" dirty="0"/>
              <a:t>Razor pages shared by </a:t>
            </a:r>
            <a:r>
              <a:rPr lang="en-US" altLang="zh-CN" sz="1200" dirty="0"/>
              <a:t>.NET MAUI app and Blazor web app at {</a:t>
            </a:r>
            <a:r>
              <a:rPr lang="en-US" altLang="zh-CN" sz="1200" dirty="0" err="1"/>
              <a:t>ProjectName</a:t>
            </a:r>
            <a:r>
              <a:rPr lang="en-US" altLang="zh-CN" sz="1200" dirty="0"/>
              <a:t>}.Shared</a:t>
            </a:r>
          </a:p>
          <a:p>
            <a:r>
              <a:rPr lang="en-US" altLang="zh-CN" sz="1200" dirty="0"/>
              <a:t>Blazor web app browser features at {</a:t>
            </a:r>
            <a:r>
              <a:rPr lang="en-US" altLang="zh-CN" sz="1200" dirty="0" err="1"/>
              <a:t>ProjectName</a:t>
            </a:r>
            <a:r>
              <a:rPr lang="en-US" altLang="zh-CN" sz="1200" dirty="0"/>
              <a:t>}.Client</a:t>
            </a:r>
            <a:r>
              <a:rPr lang="en-US" altLang="zh-CN" sz="1200" b="1" dirty="0"/>
              <a:t>(Only </a:t>
            </a:r>
            <a:r>
              <a:rPr lang="en-US" altLang="zh-CN" sz="1200" b="1" dirty="0" err="1"/>
              <a:t>WebAssembly</a:t>
            </a:r>
            <a:r>
              <a:rPr lang="en-US" altLang="zh-CN" sz="1200" b="1" dirty="0"/>
              <a:t> and Auto  interactive render mode have)</a:t>
            </a:r>
            <a:endParaRPr lang="en-SG" sz="1200" b="1" dirty="0"/>
          </a:p>
          <a:p>
            <a:endParaRPr lang="en-SG" sz="1200" dirty="0"/>
          </a:p>
          <a:p>
            <a:endParaRPr lang="en-SG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E7EEE-93CB-EBBE-BF42-97463223DE54}"/>
              </a:ext>
            </a:extLst>
          </p:cNvPr>
          <p:cNvSpPr txBox="1"/>
          <p:nvPr/>
        </p:nvSpPr>
        <p:spPr>
          <a:xfrm>
            <a:off x="691079" y="2354347"/>
            <a:ext cx="186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FC5F90-EC07-DB60-0C49-587EE502C290}"/>
              </a:ext>
            </a:extLst>
          </p:cNvPr>
          <p:cNvSpPr/>
          <p:nvPr/>
        </p:nvSpPr>
        <p:spPr>
          <a:xfrm>
            <a:off x="1541629" y="5248681"/>
            <a:ext cx="1202798" cy="426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C000"/>
                </a:solidFill>
              </a:rPr>
              <a:t>App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C90534-27BF-957D-8766-1EDAA86C3AC9}"/>
              </a:ext>
            </a:extLst>
          </p:cNvPr>
          <p:cNvSpPr/>
          <p:nvPr/>
        </p:nvSpPr>
        <p:spPr>
          <a:xfrm>
            <a:off x="5572122" y="4773069"/>
            <a:ext cx="1670180" cy="426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FFC000"/>
                </a:solidFill>
              </a:rPr>
              <a:t>App.Web</a:t>
            </a:r>
            <a:endParaRPr lang="en-US" sz="1600" b="1" dirty="0">
              <a:solidFill>
                <a:srgbClr val="FFC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BE335D-B848-183B-545D-867CB2919B66}"/>
              </a:ext>
            </a:extLst>
          </p:cNvPr>
          <p:cNvSpPr/>
          <p:nvPr/>
        </p:nvSpPr>
        <p:spPr>
          <a:xfrm>
            <a:off x="5586765" y="5675929"/>
            <a:ext cx="1670180" cy="426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App.Web.Client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6DE9EA-0FE9-9E9D-5408-7DE0B2B13C0D}"/>
              </a:ext>
            </a:extLst>
          </p:cNvPr>
          <p:cNvSpPr/>
          <p:nvPr/>
        </p:nvSpPr>
        <p:spPr>
          <a:xfrm>
            <a:off x="3341450" y="5205194"/>
            <a:ext cx="1397988" cy="426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App.Shared</a:t>
            </a:r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CA8CFF-E8D3-96B4-4749-F9911EDDA605}"/>
              </a:ext>
            </a:extLst>
          </p:cNvPr>
          <p:cNvSpPr/>
          <p:nvPr/>
        </p:nvSpPr>
        <p:spPr>
          <a:xfrm>
            <a:off x="1194319" y="4323580"/>
            <a:ext cx="3874561" cy="2179212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C27080-5376-62EE-A028-820820E50EF1}"/>
              </a:ext>
            </a:extLst>
          </p:cNvPr>
          <p:cNvSpPr/>
          <p:nvPr/>
        </p:nvSpPr>
        <p:spPr>
          <a:xfrm>
            <a:off x="3153747" y="4052669"/>
            <a:ext cx="4609323" cy="272103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78E75-E8FB-D77C-D013-F042B3CD7AD3}"/>
              </a:ext>
            </a:extLst>
          </p:cNvPr>
          <p:cNvSpPr/>
          <p:nvPr/>
        </p:nvSpPr>
        <p:spPr>
          <a:xfrm>
            <a:off x="1399690" y="4495652"/>
            <a:ext cx="1486677" cy="570196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MAUI Blazor hybrid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A1FCB4-255E-D4FB-9E88-656EA5F67915}"/>
              </a:ext>
            </a:extLst>
          </p:cNvPr>
          <p:cNvSpPr/>
          <p:nvPr/>
        </p:nvSpPr>
        <p:spPr>
          <a:xfrm>
            <a:off x="5620139" y="3999603"/>
            <a:ext cx="1486677" cy="570196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Blazor Web </a:t>
            </a:r>
          </a:p>
        </p:txBody>
      </p:sp>
    </p:spTree>
    <p:extLst>
      <p:ext uri="{BB962C8B-B14F-4D97-AF65-F5344CB8AC3E}">
        <p14:creationId xmlns:p14="http://schemas.microsoft.com/office/powerpoint/2010/main" val="2388309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281B9-8805-4089-1279-2130B252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EA92A-CB1E-7FD4-7E9A-7B1300137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 err="1"/>
              <a:t>.Net</a:t>
            </a:r>
            <a:r>
              <a:rPr lang="en-US" altLang="zh-CN" dirty="0"/>
              <a:t> MAUI Blazor hybrid and web app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E1ADB6-69E9-FEFF-1CF9-4CA2D9FEE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0668"/>
            <a:ext cx="4405245" cy="15387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5E5253-5A15-E4A4-E71F-B7A97AE4B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905" y="2306868"/>
            <a:ext cx="6812781" cy="22215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496724-9E27-1392-F9A0-DE6368338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905" y="4528427"/>
            <a:ext cx="5717510" cy="230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09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E93F6-6122-40F9-9554-01C7EA5C7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4D0E-3F01-F25C-2135-762BA80DB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 err="1"/>
              <a:t>.Net</a:t>
            </a:r>
            <a:r>
              <a:rPr lang="en-US" altLang="zh-CN" dirty="0"/>
              <a:t> MAUI Blazor hybrid and web app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23C84-A9F5-9215-C451-4795347E4701}"/>
              </a:ext>
            </a:extLst>
          </p:cNvPr>
          <p:cNvSpPr txBox="1"/>
          <p:nvPr/>
        </p:nvSpPr>
        <p:spPr>
          <a:xfrm>
            <a:off x="691079" y="2354347"/>
            <a:ext cx="186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DB5F1-99C9-4E5A-937C-449BB2A7842E}"/>
              </a:ext>
            </a:extLst>
          </p:cNvPr>
          <p:cNvSpPr txBox="1"/>
          <p:nvPr/>
        </p:nvSpPr>
        <p:spPr>
          <a:xfrm>
            <a:off x="691079" y="3218201"/>
            <a:ext cx="52805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WebApplication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CreateBuilder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Add services to the container.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.Services.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AddRazorComponents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AddInteractiveWebAssemblyComponents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//...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0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//...</a:t>
            </a:r>
          </a:p>
          <a:p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MapRazorComponents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AddInteractiveWebAssemblyRenderMode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AddAdditionalAssemblies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typeof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Maui.Blazor.Web.App.Shared.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_Imports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.Assembly,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typeof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Maui.Blazor.Web.App.Web.Client.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_Imports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.Assembly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0E6B66-995C-9792-9DF4-14F0A733C73F}"/>
              </a:ext>
            </a:extLst>
          </p:cNvPr>
          <p:cNvSpPr txBox="1"/>
          <p:nvPr/>
        </p:nvSpPr>
        <p:spPr>
          <a:xfrm>
            <a:off x="5853579" y="3218201"/>
            <a:ext cx="6116216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MauiProgram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MauiApp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CreateMauiApp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MauiApp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CreateBuilder</a:t>
            </a:r>
            <a:r>
              <a:rPr lang="en-US" sz="10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UseMauiApp</a:t>
            </a:r>
            <a:r>
              <a:rPr lang="en-US" sz="10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10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ConfigureFonts</a:t>
            </a:r>
            <a:r>
              <a:rPr lang="en-US" sz="10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fonts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0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fonts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AddFont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"OpenSans-Regular.ttf"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OpenSansRegular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0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//...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.Services.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AddMauiBlazorWebView</a:t>
            </a:r>
            <a:r>
              <a:rPr lang="en-US" sz="10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</a:t>
            </a:r>
            <a:r>
              <a:rPr lang="en-US" sz="10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2BCFEE-7FA2-B3E5-59BD-AD4E9FEDB209}"/>
              </a:ext>
            </a:extLst>
          </p:cNvPr>
          <p:cNvSpPr txBox="1"/>
          <p:nvPr/>
        </p:nvSpPr>
        <p:spPr>
          <a:xfrm>
            <a:off x="691079" y="2909612"/>
            <a:ext cx="28172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{</a:t>
            </a:r>
            <a:r>
              <a:rPr lang="en-US" altLang="zh-CN" sz="1100" dirty="0" err="1"/>
              <a:t>ProjectName</a:t>
            </a:r>
            <a:r>
              <a:rPr lang="en-US" altLang="zh-CN" sz="1100" dirty="0"/>
              <a:t>}.Web </a:t>
            </a:r>
            <a:r>
              <a:rPr lang="en-US" altLang="zh-CN" sz="1100" dirty="0" err="1"/>
              <a:t>Program.cs</a:t>
            </a:r>
            <a:endParaRPr lang="en-SG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6133FF-4F3E-6804-0ABC-A2F70B1B13BD}"/>
              </a:ext>
            </a:extLst>
          </p:cNvPr>
          <p:cNvSpPr txBox="1"/>
          <p:nvPr/>
        </p:nvSpPr>
        <p:spPr>
          <a:xfrm>
            <a:off x="5797902" y="2933102"/>
            <a:ext cx="28172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{</a:t>
            </a:r>
            <a:r>
              <a:rPr lang="en-US" altLang="zh-CN" sz="1100" dirty="0" err="1"/>
              <a:t>ProjectName</a:t>
            </a:r>
            <a:r>
              <a:rPr lang="en-US" altLang="zh-CN" sz="1100" dirty="0"/>
              <a:t>}  </a:t>
            </a:r>
            <a:r>
              <a:rPr lang="en-US" altLang="zh-CN" sz="1100" dirty="0" err="1"/>
              <a:t>MauiProgram.cs</a:t>
            </a:r>
            <a:endParaRPr lang="en-SG" sz="1100" dirty="0"/>
          </a:p>
        </p:txBody>
      </p:sp>
    </p:spTree>
    <p:extLst>
      <p:ext uri="{BB962C8B-B14F-4D97-AF65-F5344CB8AC3E}">
        <p14:creationId xmlns:p14="http://schemas.microsoft.com/office/powerpoint/2010/main" val="1189098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5360431-03C4-E4E0-D5E2-DFEA7D777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702" y="330023"/>
            <a:ext cx="8002298" cy="25324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D34732-8AD0-94EA-5EF4-305E3163C7C6}"/>
              </a:ext>
            </a:extLst>
          </p:cNvPr>
          <p:cNvSpPr/>
          <p:nvPr/>
        </p:nvSpPr>
        <p:spPr>
          <a:xfrm>
            <a:off x="4431323" y="1446963"/>
            <a:ext cx="6199833" cy="9545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457F5B04-E1C6-67BD-0D02-EEC60C40C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2483" y="656332"/>
            <a:ext cx="5094495" cy="554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6AE1AA8-6849-29CA-5509-9AB23209CFF7}"/>
              </a:ext>
            </a:extLst>
          </p:cNvPr>
          <p:cNvCxnSpPr/>
          <p:nvPr/>
        </p:nvCxnSpPr>
        <p:spPr>
          <a:xfrm flipH="1" flipV="1">
            <a:off x="2957804" y="877078"/>
            <a:ext cx="1473519" cy="5698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742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C104C-70EB-7654-6C1F-48AAA8F2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AA425-EE04-3A8D-92B3-4CCBD6C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813566" cy="144246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 err="1"/>
              <a:t>.Net</a:t>
            </a:r>
            <a:r>
              <a:rPr lang="en-US" altLang="zh-CN" dirty="0"/>
              <a:t> MAUI Blazor hybrid and web app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6413AB-3947-8CE0-5A84-CB403897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2" y="2680998"/>
            <a:ext cx="5199895" cy="8316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BE3943-6AD9-D068-D884-7A296E88A612}"/>
              </a:ext>
            </a:extLst>
          </p:cNvPr>
          <p:cNvSpPr txBox="1"/>
          <p:nvPr/>
        </p:nvSpPr>
        <p:spPr>
          <a:xfrm>
            <a:off x="167952" y="2392208"/>
            <a:ext cx="41171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1" dirty="0"/>
              <a:t>Blazor </a:t>
            </a:r>
            <a:r>
              <a:rPr lang="en-US" altLang="zh-CN" sz="1100" b="1" i="1" dirty="0" err="1"/>
              <a:t>WebAssembly</a:t>
            </a:r>
            <a:r>
              <a:rPr lang="en-US" altLang="zh-CN" sz="1100" b="1" i="1" dirty="0"/>
              <a:t>  Standalone App </a:t>
            </a:r>
            <a:r>
              <a:rPr lang="en-US" altLang="zh-CN" sz="1100" dirty="0"/>
              <a:t>config in </a:t>
            </a:r>
            <a:r>
              <a:rPr lang="en-US" altLang="zh-CN" sz="1100" dirty="0" err="1"/>
              <a:t>Program.cs</a:t>
            </a:r>
            <a:r>
              <a:rPr lang="en-US" altLang="zh-CN" sz="1100" dirty="0"/>
              <a:t> 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761D10-1189-2A7C-FD42-696645084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52" y="3867257"/>
            <a:ext cx="6970415" cy="29207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DA6F19-8CC9-C625-E718-8216B10EE977}"/>
              </a:ext>
            </a:extLst>
          </p:cNvPr>
          <p:cNvSpPr txBox="1"/>
          <p:nvPr/>
        </p:nvSpPr>
        <p:spPr>
          <a:xfrm>
            <a:off x="167952" y="3605647"/>
            <a:ext cx="45057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1" dirty="0"/>
              <a:t>Blazor </a:t>
            </a:r>
            <a:r>
              <a:rPr lang="en-US" altLang="zh-CN" sz="1100" b="1" i="1" dirty="0" err="1"/>
              <a:t>WebAssembly</a:t>
            </a:r>
            <a:r>
              <a:rPr lang="en-US" altLang="zh-CN" sz="1100" b="1" i="1" dirty="0"/>
              <a:t>  Standalone App </a:t>
            </a:r>
            <a:r>
              <a:rPr lang="en-US" altLang="zh-CN" sz="1100" dirty="0"/>
              <a:t>config in </a:t>
            </a:r>
            <a:r>
              <a:rPr lang="en-US" altLang="zh-CN" sz="1100" dirty="0" err="1"/>
              <a:t>App.razor</a:t>
            </a:r>
            <a:r>
              <a:rPr lang="en-US" altLang="zh-CN" sz="1100" dirty="0"/>
              <a:t> 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37D061-1EAC-009B-313D-75A81CC04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262" y="4208031"/>
            <a:ext cx="4912738" cy="20611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C96D00-FAD1-8E63-B1D4-C7163E717958}"/>
              </a:ext>
            </a:extLst>
          </p:cNvPr>
          <p:cNvSpPr txBox="1"/>
          <p:nvPr/>
        </p:nvSpPr>
        <p:spPr>
          <a:xfrm>
            <a:off x="5907832" y="2806138"/>
            <a:ext cx="61162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The configuration equal to what </a:t>
            </a:r>
            <a:r>
              <a:rPr lang="en-US" altLang="zh-CN" sz="1100" b="1" i="1" dirty="0"/>
              <a:t>Blazor </a:t>
            </a:r>
            <a:r>
              <a:rPr lang="en-US" altLang="zh-CN" sz="1100" b="1" i="1" dirty="0" err="1"/>
              <a:t>WebAssembly</a:t>
            </a:r>
            <a:r>
              <a:rPr lang="en-US" altLang="zh-CN" sz="1100" b="1" i="1" dirty="0"/>
              <a:t>  Standalone App </a:t>
            </a:r>
            <a:r>
              <a:rPr lang="en-US" altLang="zh-CN" sz="1100" dirty="0"/>
              <a:t>config in </a:t>
            </a:r>
            <a:r>
              <a:rPr lang="en-US" altLang="zh-CN" sz="1100" dirty="0" err="1"/>
              <a:t>Program.cs</a:t>
            </a:r>
            <a:r>
              <a:rPr lang="en-US" altLang="zh-CN" sz="1100" dirty="0"/>
              <a:t> and </a:t>
            </a:r>
            <a:r>
              <a:rPr lang="en-US" altLang="zh-CN" sz="1100" dirty="0" err="1"/>
              <a:t>App.razor</a:t>
            </a:r>
            <a:r>
              <a:rPr lang="en-US" altLang="zh-CN" sz="1100" dirty="0"/>
              <a:t> 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DA69B6-DD8D-DC91-4748-DA84531C5E35}"/>
              </a:ext>
            </a:extLst>
          </p:cNvPr>
          <p:cNvSpPr txBox="1"/>
          <p:nvPr/>
        </p:nvSpPr>
        <p:spPr>
          <a:xfrm>
            <a:off x="7760737" y="3836418"/>
            <a:ext cx="61162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1" dirty="0"/>
              <a:t>MAUI Blazor hybrid and web app  </a:t>
            </a:r>
            <a:r>
              <a:rPr lang="en-US" altLang="zh-CN" sz="1100" dirty="0"/>
              <a:t>config in </a:t>
            </a:r>
            <a:r>
              <a:rPr lang="en-US" altLang="zh-CN" sz="1100" dirty="0" err="1"/>
              <a:t>App.Razor</a:t>
            </a:r>
            <a:r>
              <a:rPr lang="en-US" altLang="zh-CN" sz="1100" dirty="0"/>
              <a:t>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37496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C84C0F-9648-C1FB-70B9-D60A0E30598B}"/>
              </a:ext>
            </a:extLst>
          </p:cNvPr>
          <p:cNvSpPr txBox="1"/>
          <p:nvPr/>
        </p:nvSpPr>
        <p:spPr>
          <a:xfrm>
            <a:off x="7761235" y="5236418"/>
            <a:ext cx="38745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1" dirty="0"/>
              <a:t>MAUI Blazor hybrid and web app  </a:t>
            </a:r>
            <a:r>
              <a:rPr lang="en-US" altLang="zh-CN" sz="1100" dirty="0"/>
              <a:t>config in </a:t>
            </a:r>
            <a:r>
              <a:rPr lang="en-US" altLang="zh-CN" sz="1100" dirty="0" err="1"/>
              <a:t>App.Razor</a:t>
            </a:r>
            <a:r>
              <a:rPr lang="en-US" altLang="zh-CN" sz="1100" dirty="0"/>
              <a:t> </a:t>
            </a:r>
            <a:endParaRPr lang="en-US" sz="11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27706C-E833-12D8-6A22-21BBB2C9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813566" cy="144246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 err="1"/>
              <a:t>.Net</a:t>
            </a:r>
            <a:r>
              <a:rPr lang="en-US" altLang="zh-CN" dirty="0"/>
              <a:t> MAUI Blazor hybrid and web app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B52C2-5353-A63F-04D0-015C668E29E7}"/>
              </a:ext>
            </a:extLst>
          </p:cNvPr>
          <p:cNvSpPr txBox="1"/>
          <p:nvPr/>
        </p:nvSpPr>
        <p:spPr>
          <a:xfrm>
            <a:off x="691079" y="2909612"/>
            <a:ext cx="62508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Different with Blazor web app, </a:t>
            </a:r>
            <a:r>
              <a:rPr lang="en-US" altLang="zh-CN" sz="1100" b="1" i="1" dirty="0"/>
              <a:t>MAUI Blazor hybrid and web app  </a:t>
            </a:r>
            <a:r>
              <a:rPr lang="en-US" altLang="zh-CN" sz="1100" dirty="0"/>
              <a:t>config root </a:t>
            </a:r>
            <a:r>
              <a:rPr lang="en-US" altLang="zh-CN" sz="1100" dirty="0" err="1"/>
              <a:t>componment</a:t>
            </a:r>
            <a:r>
              <a:rPr lang="en-US" altLang="zh-CN" sz="1100" dirty="0"/>
              <a:t> render mode explicitly in </a:t>
            </a:r>
            <a:r>
              <a:rPr lang="en-US" altLang="zh-CN" sz="1100" dirty="0" err="1"/>
              <a:t>App.razor</a:t>
            </a:r>
            <a:r>
              <a:rPr lang="en-US" altLang="zh-CN" sz="1100" dirty="0"/>
              <a:t>‌  to</a:t>
            </a:r>
            <a:r>
              <a:rPr lang="zh-CN" altLang="en-US" sz="1100" dirty="0"/>
              <a:t> </a:t>
            </a:r>
            <a:r>
              <a:rPr lang="en-US" altLang="zh-CN" sz="1100" dirty="0"/>
              <a:t>make</a:t>
            </a:r>
            <a:r>
              <a:rPr lang="zh-CN" altLang="en-US" sz="1100" dirty="0"/>
              <a:t> </a:t>
            </a:r>
            <a:r>
              <a:rPr lang="en-US" altLang="zh-CN" sz="1100" dirty="0"/>
              <a:t>web app</a:t>
            </a:r>
            <a:r>
              <a:rPr lang="zh-CN" altLang="en-US" sz="1100" dirty="0"/>
              <a:t> </a:t>
            </a:r>
            <a:r>
              <a:rPr lang="en-US" altLang="zh-CN" sz="1100" dirty="0"/>
              <a:t>keep</a:t>
            </a:r>
            <a:r>
              <a:rPr lang="zh-CN" altLang="en-US" sz="1100" dirty="0"/>
              <a:t> </a:t>
            </a:r>
            <a:r>
              <a:rPr lang="en-US" altLang="zh-CN" sz="1100" dirty="0"/>
              <a:t>one</a:t>
            </a:r>
            <a:r>
              <a:rPr lang="zh-CN" altLang="en-US" sz="1100" dirty="0"/>
              <a:t> </a:t>
            </a:r>
            <a:r>
              <a:rPr lang="en-US" altLang="zh-CN" sz="1100" dirty="0"/>
              <a:t>render mode. </a:t>
            </a:r>
            <a:endParaRPr lang="en-SG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AA0A78-D0CA-F563-5E30-62FFA15B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79" y="3587592"/>
            <a:ext cx="6956927" cy="329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28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1530-C183-7189-6D47-F202BFC49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BDEC581-CE72-3F85-9A97-D0C768A38F9C}"/>
              </a:ext>
            </a:extLst>
          </p:cNvPr>
          <p:cNvSpPr txBox="1"/>
          <p:nvPr/>
        </p:nvSpPr>
        <p:spPr>
          <a:xfrm>
            <a:off x="6705602" y="2815832"/>
            <a:ext cx="17959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1" dirty="0"/>
              <a:t>Blazor Web App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C6C84C-C1D1-AD75-FEEE-AF8D04AE0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10" y="2299219"/>
            <a:ext cx="5312690" cy="280362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72D9E68-A4AD-D3C0-47F3-FD2964E0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813566" cy="144246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 err="1"/>
              <a:t>.Net</a:t>
            </a:r>
            <a:r>
              <a:rPr lang="en-US" altLang="zh-CN" dirty="0"/>
              <a:t> MAUI Blazor hybrid and web app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9F9C5E-D1FC-0D39-1C07-4F9DD0448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10" y="5233651"/>
            <a:ext cx="9972663" cy="155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184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D792-031E-FCC4-9ECA-B24C27F5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.Net</a:t>
            </a:r>
            <a:r>
              <a:rPr lang="en-US" altLang="zh-CN" dirty="0"/>
              <a:t> MAUI Blazor hybrid and web app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6EDC2-BFC0-6442-870F-294197C86D5C}"/>
              </a:ext>
            </a:extLst>
          </p:cNvPr>
          <p:cNvSpPr txBox="1"/>
          <p:nvPr/>
        </p:nvSpPr>
        <p:spPr>
          <a:xfrm>
            <a:off x="691078" y="2354347"/>
            <a:ext cx="5765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Thinking about </a:t>
            </a:r>
            <a:r>
              <a:rPr lang="en-US" altLang="zh-CN" dirty="0" err="1"/>
              <a:t>StarterkitOnWeb</a:t>
            </a:r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FB0D6-D29C-C511-C096-8C67DD07860F}"/>
              </a:ext>
            </a:extLst>
          </p:cNvPr>
          <p:cNvSpPr txBox="1"/>
          <p:nvPr/>
        </p:nvSpPr>
        <p:spPr>
          <a:xfrm>
            <a:off x="691079" y="2909612"/>
            <a:ext cx="79210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If want to develop </a:t>
            </a:r>
            <a:r>
              <a:rPr lang="en-US" altLang="zh-CN" sz="1100" dirty="0" err="1"/>
              <a:t>blazor</a:t>
            </a:r>
            <a:r>
              <a:rPr lang="en-US" altLang="zh-CN" sz="1100" dirty="0"/>
              <a:t> as  desktop app and keep web app also, </a:t>
            </a:r>
            <a:r>
              <a:rPr lang="en-US" altLang="zh-CN" sz="1100" b="1" i="1" dirty="0"/>
              <a:t>MAUI Blazor hybrid and web app </a:t>
            </a:r>
            <a:r>
              <a:rPr lang="en-US" altLang="zh-CN" sz="1100" dirty="0"/>
              <a:t>is the best choice to keep both and make UI code reuse better.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8A242-7EF0-A099-0B78-7C6BF542D863}"/>
              </a:ext>
            </a:extLst>
          </p:cNvPr>
          <p:cNvSpPr txBox="1"/>
          <p:nvPr/>
        </p:nvSpPr>
        <p:spPr>
          <a:xfrm>
            <a:off x="464198" y="4265096"/>
            <a:ext cx="28201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Web</a:t>
            </a:r>
          </a:p>
          <a:p>
            <a:r>
              <a:rPr lang="en-US" sz="1600" dirty="0">
                <a:solidFill>
                  <a:srgbClr val="00B050"/>
                </a:solidFill>
              </a:rPr>
              <a:t>|--</a:t>
            </a:r>
            <a:r>
              <a:rPr lang="en-US" sz="1600" dirty="0" err="1">
                <a:solidFill>
                  <a:srgbClr val="00B050"/>
                </a:solidFill>
              </a:rPr>
              <a:t>Admin.BlazorWeb</a:t>
            </a:r>
            <a:endParaRPr lang="en-US" sz="1600" dirty="0">
              <a:solidFill>
                <a:srgbClr val="00B050"/>
              </a:solidFill>
            </a:endParaRPr>
          </a:p>
          <a:p>
            <a:r>
              <a:rPr lang="en-US" sz="1600" dirty="0">
                <a:solidFill>
                  <a:srgbClr val="00B050"/>
                </a:solidFill>
              </a:rPr>
              <a:t>|--</a:t>
            </a:r>
            <a:r>
              <a:rPr lang="en-US" sz="1600" dirty="0" err="1">
                <a:solidFill>
                  <a:srgbClr val="00B050"/>
                </a:solidFill>
              </a:rPr>
              <a:t>Admin.NGWeb</a:t>
            </a:r>
            <a:endParaRPr lang="en-US" sz="1600" dirty="0">
              <a:solidFill>
                <a:srgbClr val="00B050"/>
              </a:solidFill>
            </a:endParaRPr>
          </a:p>
          <a:p>
            <a:r>
              <a:rPr lang="en-US" sz="1600" dirty="0">
                <a:solidFill>
                  <a:srgbClr val="00B050"/>
                </a:solidFill>
              </a:rPr>
              <a:t>|--</a:t>
            </a:r>
            <a:r>
              <a:rPr lang="en-US" sz="1600" dirty="0" err="1">
                <a:solidFill>
                  <a:srgbClr val="00B050"/>
                </a:solidFill>
              </a:rPr>
              <a:t>CMS.MvcWeb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9B5272-1E6C-31A1-B12B-B12E34CE1E64}"/>
              </a:ext>
            </a:extLst>
          </p:cNvPr>
          <p:cNvSpPr txBox="1"/>
          <p:nvPr/>
        </p:nvSpPr>
        <p:spPr>
          <a:xfrm>
            <a:off x="7508811" y="4219298"/>
            <a:ext cx="38838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UI(or other name)</a:t>
            </a:r>
          </a:p>
          <a:p>
            <a:r>
              <a:rPr lang="en-US" sz="1600" dirty="0"/>
              <a:t>|--Web</a:t>
            </a:r>
          </a:p>
          <a:p>
            <a:r>
              <a:rPr lang="en-US" sz="1600" dirty="0">
                <a:solidFill>
                  <a:srgbClr val="00B050"/>
                </a:solidFill>
              </a:rPr>
              <a:t>  |--</a:t>
            </a:r>
            <a:r>
              <a:rPr lang="en-US" sz="1600" dirty="0" err="1">
                <a:solidFill>
                  <a:srgbClr val="00B050"/>
                </a:solidFill>
              </a:rPr>
              <a:t>CMS.MvcWeb</a:t>
            </a:r>
            <a:endParaRPr lang="en-US" sz="1600" dirty="0">
              <a:solidFill>
                <a:srgbClr val="00B050"/>
              </a:solidFill>
            </a:endParaRPr>
          </a:p>
          <a:p>
            <a:r>
              <a:rPr lang="en-US" sz="1600" dirty="0">
                <a:solidFill>
                  <a:srgbClr val="00B050"/>
                </a:solidFill>
              </a:rPr>
              <a:t>  |--</a:t>
            </a:r>
            <a:r>
              <a:rPr lang="en-US" sz="1600" dirty="0" err="1">
                <a:solidFill>
                  <a:srgbClr val="00B050"/>
                </a:solidFill>
              </a:rPr>
              <a:t>Admin.NGWeb</a:t>
            </a:r>
            <a:endParaRPr lang="en-US" sz="1600" dirty="0">
              <a:solidFill>
                <a:srgbClr val="00B050"/>
              </a:solidFill>
            </a:endParaRPr>
          </a:p>
          <a:p>
            <a:r>
              <a:rPr lang="en-US" sz="1600" dirty="0"/>
              <a:t>|--</a:t>
            </a:r>
            <a:r>
              <a:rPr lang="en-US" sz="1600" dirty="0" err="1"/>
              <a:t>MauiBlazorHybrid</a:t>
            </a:r>
            <a:endParaRPr lang="en-US" sz="1600" dirty="0"/>
          </a:p>
          <a:p>
            <a:r>
              <a:rPr lang="en-US" sz="1600" dirty="0"/>
              <a:t>  |--</a:t>
            </a:r>
            <a:r>
              <a:rPr lang="en-US" sz="1600" dirty="0" err="1"/>
              <a:t>Admin.MauiBlazorHybrid.Client</a:t>
            </a:r>
            <a:endParaRPr lang="en-US" sz="1600" dirty="0"/>
          </a:p>
          <a:p>
            <a:r>
              <a:rPr lang="en-US" sz="1600" dirty="0">
                <a:solidFill>
                  <a:srgbClr val="00B050"/>
                </a:solidFill>
              </a:rPr>
              <a:t>  |--</a:t>
            </a:r>
            <a:r>
              <a:rPr lang="en-US" sz="1600" dirty="0" err="1">
                <a:solidFill>
                  <a:srgbClr val="00B050"/>
                </a:solidFill>
              </a:rPr>
              <a:t>Admin.MauiBlazorHybrid.Web</a:t>
            </a:r>
            <a:endParaRPr lang="en-US" sz="1600" dirty="0"/>
          </a:p>
          <a:p>
            <a:r>
              <a:rPr lang="en-US" sz="1600" dirty="0">
                <a:solidFill>
                  <a:srgbClr val="00B050"/>
                </a:solidFill>
              </a:rPr>
              <a:t>  |--</a:t>
            </a:r>
            <a:r>
              <a:rPr lang="en-US" sz="1600" dirty="0" err="1">
                <a:solidFill>
                  <a:srgbClr val="00B050"/>
                </a:solidFill>
              </a:rPr>
              <a:t>Admin.MauiBlazorHybrid</a:t>
            </a:r>
            <a:endParaRPr lang="en-US" sz="1600" dirty="0">
              <a:solidFill>
                <a:srgbClr val="00B050"/>
              </a:solidFill>
            </a:endParaRPr>
          </a:p>
          <a:p>
            <a:r>
              <a:rPr lang="en-US" sz="1600" dirty="0"/>
              <a:t>  |--</a:t>
            </a:r>
            <a:r>
              <a:rPr lang="en-US" sz="1600" dirty="0" err="1"/>
              <a:t>Admin.MauiBlazorHybrid.Shared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5C83AE-FC16-ABED-9B61-BA0072C37E96}"/>
              </a:ext>
            </a:extLst>
          </p:cNvPr>
          <p:cNvSpPr txBox="1"/>
          <p:nvPr/>
        </p:nvSpPr>
        <p:spPr>
          <a:xfrm>
            <a:off x="3284376" y="4265096"/>
            <a:ext cx="3974841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Web</a:t>
            </a:r>
          </a:p>
          <a:p>
            <a:r>
              <a:rPr lang="en-US" sz="1600" dirty="0"/>
              <a:t>|--</a:t>
            </a:r>
            <a:r>
              <a:rPr lang="en-US" sz="1600" dirty="0" err="1"/>
              <a:t>Admin.MauiBlazorHybrid.Client</a:t>
            </a:r>
            <a:endParaRPr lang="en-US" sz="1600" dirty="0"/>
          </a:p>
          <a:p>
            <a:r>
              <a:rPr lang="en-US" sz="1600" dirty="0">
                <a:solidFill>
                  <a:srgbClr val="00B050"/>
                </a:solidFill>
              </a:rPr>
              <a:t>|--</a:t>
            </a:r>
            <a:r>
              <a:rPr lang="en-US" sz="1600" dirty="0" err="1">
                <a:solidFill>
                  <a:srgbClr val="00B050"/>
                </a:solidFill>
              </a:rPr>
              <a:t>Admin.MauiBlazorHybrid.Web</a:t>
            </a:r>
            <a:endParaRPr lang="en-US" sz="1600" dirty="0">
              <a:solidFill>
                <a:srgbClr val="00B050"/>
              </a:solidFill>
            </a:endParaRPr>
          </a:p>
          <a:p>
            <a:r>
              <a:rPr lang="en-US" sz="1600" dirty="0">
                <a:solidFill>
                  <a:srgbClr val="00B050"/>
                </a:solidFill>
              </a:rPr>
              <a:t>|--</a:t>
            </a:r>
            <a:r>
              <a:rPr lang="en-US" sz="1600" dirty="0" err="1">
                <a:solidFill>
                  <a:srgbClr val="00B050"/>
                </a:solidFill>
              </a:rPr>
              <a:t>Admin.MauiBlazorHybrid</a:t>
            </a:r>
            <a:endParaRPr lang="en-US" sz="1600" dirty="0">
              <a:solidFill>
                <a:srgbClr val="00B050"/>
              </a:solidFill>
            </a:endParaRPr>
          </a:p>
          <a:p>
            <a:r>
              <a:rPr lang="en-US" sz="1600" dirty="0"/>
              <a:t>|--</a:t>
            </a:r>
            <a:r>
              <a:rPr lang="en-US" sz="1600" dirty="0" err="1"/>
              <a:t>Admin.MauiBlazorHybrid.Shared</a:t>
            </a:r>
            <a:endParaRPr lang="en-US" sz="1600" dirty="0"/>
          </a:p>
          <a:p>
            <a:r>
              <a:rPr lang="en-US" sz="1600" dirty="0">
                <a:solidFill>
                  <a:srgbClr val="00B050"/>
                </a:solidFill>
              </a:rPr>
              <a:t>|--</a:t>
            </a:r>
            <a:r>
              <a:rPr lang="en-US" sz="1600" dirty="0" err="1">
                <a:solidFill>
                  <a:srgbClr val="00B050"/>
                </a:solidFill>
              </a:rPr>
              <a:t>CMS.MvcWeb</a:t>
            </a:r>
            <a:endParaRPr lang="en-US" sz="1600" dirty="0">
              <a:solidFill>
                <a:srgbClr val="00B050"/>
              </a:solidFill>
            </a:endParaRPr>
          </a:p>
          <a:p>
            <a:r>
              <a:rPr lang="en-US" sz="1600" dirty="0">
                <a:solidFill>
                  <a:srgbClr val="00B050"/>
                </a:solidFill>
              </a:rPr>
              <a:t>|--</a:t>
            </a:r>
            <a:r>
              <a:rPr lang="en-US" sz="1600" dirty="0" err="1">
                <a:solidFill>
                  <a:srgbClr val="00B050"/>
                </a:solidFill>
              </a:rPr>
              <a:t>Admin.NGWeb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7CEF24-A8FE-287A-158A-71716ADA70CA}"/>
              </a:ext>
            </a:extLst>
          </p:cNvPr>
          <p:cNvSpPr txBox="1"/>
          <p:nvPr/>
        </p:nvSpPr>
        <p:spPr>
          <a:xfrm>
            <a:off x="464198" y="3849966"/>
            <a:ext cx="190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Current structure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7F678C-5C20-28E0-6517-42DADB2DCE51}"/>
              </a:ext>
            </a:extLst>
          </p:cNvPr>
          <p:cNvSpPr txBox="1"/>
          <p:nvPr/>
        </p:nvSpPr>
        <p:spPr>
          <a:xfrm>
            <a:off x="3191848" y="3849966"/>
            <a:ext cx="2294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Default created structure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FD1A5-12D4-0B33-6E37-B15A6F979ED2}"/>
              </a:ext>
            </a:extLst>
          </p:cNvPr>
          <p:cNvSpPr txBox="1"/>
          <p:nvPr/>
        </p:nvSpPr>
        <p:spPr>
          <a:xfrm>
            <a:off x="7508811" y="3837059"/>
            <a:ext cx="2294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After refactor</a:t>
            </a:r>
          </a:p>
        </p:txBody>
      </p:sp>
    </p:spTree>
    <p:extLst>
      <p:ext uri="{BB962C8B-B14F-4D97-AF65-F5344CB8AC3E}">
        <p14:creationId xmlns:p14="http://schemas.microsoft.com/office/powerpoint/2010/main" val="135031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4F7837-9985-8DBA-0E90-2D96C6485439}"/>
              </a:ext>
            </a:extLst>
          </p:cNvPr>
          <p:cNvSpPr/>
          <p:nvPr/>
        </p:nvSpPr>
        <p:spPr>
          <a:xfrm>
            <a:off x="712237" y="4581679"/>
            <a:ext cx="1156996" cy="350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MAUI Shell</a:t>
            </a: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6EF72F-8A9E-8A0E-30EB-37F3F16CB3F0}"/>
              </a:ext>
            </a:extLst>
          </p:cNvPr>
          <p:cNvSpPr/>
          <p:nvPr/>
        </p:nvSpPr>
        <p:spPr>
          <a:xfrm>
            <a:off x="3312365" y="4581679"/>
            <a:ext cx="1169440" cy="350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MAUI App</a:t>
            </a:r>
            <a:endParaRPr lang="en-US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AF91ED-2A51-32B9-5132-A132F2F8D48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869233" y="4757081"/>
            <a:ext cx="14431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FF25A22-EA72-C768-9666-23FB6E6CF52A}"/>
              </a:ext>
            </a:extLst>
          </p:cNvPr>
          <p:cNvSpPr txBox="1"/>
          <p:nvPr/>
        </p:nvSpPr>
        <p:spPr>
          <a:xfrm>
            <a:off x="1726162" y="4304678"/>
            <a:ext cx="2114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Config and startup app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7B9A70-589C-47EC-4036-8F9597483987}"/>
              </a:ext>
            </a:extLst>
          </p:cNvPr>
          <p:cNvSpPr txBox="1"/>
          <p:nvPr/>
        </p:nvSpPr>
        <p:spPr>
          <a:xfrm>
            <a:off x="943006" y="1691547"/>
            <a:ext cx="8751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Because of Services has already </a:t>
            </a:r>
            <a:r>
              <a:rPr lang="en-US" altLang="zh-CN" sz="1600" dirty="0" err="1"/>
              <a:t>registed</a:t>
            </a:r>
            <a:r>
              <a:rPr lang="en-US" altLang="zh-CN" sz="1600" dirty="0"/>
              <a:t> before app running(</a:t>
            </a:r>
            <a:r>
              <a:rPr lang="en-US" altLang="zh-CN" sz="1600" dirty="0" err="1"/>
              <a:t>DbContext,HttpClient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e.g</a:t>
            </a:r>
            <a:r>
              <a:rPr lang="en-US" altLang="zh-CN" sz="1600" dirty="0"/>
              <a:t>).</a:t>
            </a:r>
            <a:r>
              <a:rPr lang="zh-CN" altLang="en-US" sz="1600" dirty="0"/>
              <a:t> </a:t>
            </a:r>
            <a:r>
              <a:rPr lang="en-US" altLang="zh-CN" sz="1600" dirty="0"/>
              <a:t>Need to config and  start up App by Shell </a:t>
            </a:r>
            <a:r>
              <a:rPr lang="en-US" altLang="zh-CN" sz="1600"/>
              <a:t>or restart App.</a:t>
            </a:r>
            <a:endParaRPr lang="en-US" altLang="zh-CN" sz="1600" dirty="0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1889830C-32FC-EF12-1009-40CDC61D8C8B}"/>
              </a:ext>
            </a:extLst>
          </p:cNvPr>
          <p:cNvSpPr/>
          <p:nvPr/>
        </p:nvSpPr>
        <p:spPr>
          <a:xfrm>
            <a:off x="1869233" y="5800234"/>
            <a:ext cx="1244082" cy="350802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Config File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65EA87-4E5D-9B03-B4C5-3EC2E40B0690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290735" y="4932483"/>
            <a:ext cx="920620" cy="867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2608458-B64E-BDF4-6668-B52079703BE1}"/>
              </a:ext>
            </a:extLst>
          </p:cNvPr>
          <p:cNvCxnSpPr>
            <a:cxnSpLocks/>
            <a:stCxn id="14" idx="0"/>
            <a:endCxn id="5" idx="2"/>
          </p:cNvCxnSpPr>
          <p:nvPr/>
        </p:nvCxnSpPr>
        <p:spPr>
          <a:xfrm flipV="1">
            <a:off x="2491274" y="4932483"/>
            <a:ext cx="1405811" cy="867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12F0BB5-C0F1-0407-BD0D-630491D78DED}"/>
              </a:ext>
            </a:extLst>
          </p:cNvPr>
          <p:cNvSpPr/>
          <p:nvPr/>
        </p:nvSpPr>
        <p:spPr>
          <a:xfrm>
            <a:off x="5340217" y="4581677"/>
            <a:ext cx="1156996" cy="350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MAUI App</a:t>
            </a:r>
            <a:endParaRPr lang="en-US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870B50-2864-10AC-C5A3-E370F4BCC14C}"/>
              </a:ext>
            </a:extLst>
          </p:cNvPr>
          <p:cNvSpPr/>
          <p:nvPr/>
        </p:nvSpPr>
        <p:spPr>
          <a:xfrm>
            <a:off x="7940345" y="4581677"/>
            <a:ext cx="1169440" cy="350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MAUI App</a:t>
            </a:r>
            <a:endParaRPr lang="en-US" sz="1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03259D-E1DC-75D6-4067-0CB969526484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6497213" y="4757079"/>
            <a:ext cx="14431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0829BDE-722E-E2AC-F809-548BFA990440}"/>
              </a:ext>
            </a:extLst>
          </p:cNvPr>
          <p:cNvSpPr txBox="1"/>
          <p:nvPr/>
        </p:nvSpPr>
        <p:spPr>
          <a:xfrm>
            <a:off x="6497213" y="4216977"/>
            <a:ext cx="2114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Config and restart app</a:t>
            </a:r>
            <a:endParaRPr lang="en-US" sz="1200" dirty="0"/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3EE6CCC6-578F-8E11-455B-7287276EDADC}"/>
              </a:ext>
            </a:extLst>
          </p:cNvPr>
          <p:cNvSpPr/>
          <p:nvPr/>
        </p:nvSpPr>
        <p:spPr>
          <a:xfrm>
            <a:off x="6497213" y="5800232"/>
            <a:ext cx="1244082" cy="350802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Config File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6F7E10-7FA9-B840-7E99-90A261A1B65E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5918715" y="4932481"/>
            <a:ext cx="920620" cy="867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4D92D52-4987-BAA2-226D-D5149E68E761}"/>
              </a:ext>
            </a:extLst>
          </p:cNvPr>
          <p:cNvCxnSpPr>
            <a:cxnSpLocks/>
            <a:stCxn id="32" idx="0"/>
            <a:endCxn id="29" idx="2"/>
          </p:cNvCxnSpPr>
          <p:nvPr/>
        </p:nvCxnSpPr>
        <p:spPr>
          <a:xfrm flipV="1">
            <a:off x="7119254" y="4932481"/>
            <a:ext cx="1405811" cy="867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006502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21423</TotalTime>
  <Words>1077</Words>
  <Application>Microsoft Office PowerPoint</Application>
  <PresentationFormat>Widescreen</PresentationFormat>
  <Paragraphs>179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Cascadia Mono</vt:lpstr>
      <vt:lpstr>Courier New</vt:lpstr>
      <vt:lpstr>Grandview</vt:lpstr>
      <vt:lpstr>Segoe UI</vt:lpstr>
      <vt:lpstr>Wingdings</vt:lpstr>
      <vt:lpstr>CosineVTI</vt:lpstr>
      <vt:lpstr>Blazor Aand MAUI </vt:lpstr>
      <vt:lpstr>Agenda</vt:lpstr>
      <vt:lpstr>Blazor Web App</vt:lpstr>
      <vt:lpstr>Blazor Web App</vt:lpstr>
      <vt:lpstr>Blazor Web App</vt:lpstr>
      <vt:lpstr>Blazor Web App</vt:lpstr>
      <vt:lpstr>Blazor Web App</vt:lpstr>
      <vt:lpstr>Blazor Web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.Net MAUI Blazor hybrid and web app </vt:lpstr>
      <vt:lpstr>.Net MAUI Blazor hybrid  and web app </vt:lpstr>
      <vt:lpstr>.Net MAUI Blazor hybrid and web app </vt:lpstr>
      <vt:lpstr>.Net MAUI Blazor hybrid and web app </vt:lpstr>
      <vt:lpstr>PowerPoint Presentation</vt:lpstr>
      <vt:lpstr>.Net MAUI Blazor hybrid and web app </vt:lpstr>
      <vt:lpstr>.Net MAUI Blazor hybrid and web app </vt:lpstr>
      <vt:lpstr>.Net MAUI Blazor hybrid and web app </vt:lpstr>
      <vt:lpstr>.Net MAUI Blazor hybrid and web app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Xie Cang Yi</dc:creator>
  <cp:lastModifiedBy>Cang Yi Xie (NCS)</cp:lastModifiedBy>
  <cp:revision>75</cp:revision>
  <dcterms:created xsi:type="dcterms:W3CDTF">2023-11-01T06:34:02Z</dcterms:created>
  <dcterms:modified xsi:type="dcterms:W3CDTF">2025-12-18T02:28:41Z</dcterms:modified>
</cp:coreProperties>
</file>